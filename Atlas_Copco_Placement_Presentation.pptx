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44F6D67-40A9-3D1C-83E7-E57BE05C68EB}">
          <p14:sldIdLst>
            <p14:sldId id="256"/>
            <p14:sldId id="257"/>
          </p14:sldIdLst>
        </p14:section>
        <p14:section name="Impact" id="{D05B87F6-E807-ADED-A6AF-BDC95CE27984}">
          <p14:sldIdLst>
            <p14:sldId id="258"/>
            <p14:sldId id="259"/>
            <p14:sldId id="265"/>
            <p14:sldId id="260"/>
            <p14:sldId id="261"/>
            <p14:sldId id="262"/>
          </p14:sldIdLst>
        </p14:section>
        <p14:section name="Growth" id="{628B7150-0E34-026F-D61F-2CD8A3D1304A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16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te"/>
          <p:cNvSpPr/>
          <p:nvPr/>
        </p:nvSpPr>
        <p:spPr>
          <a:xfrm>
            <a:off x="548640" y="45720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Atlas Copco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1463040" cy="69494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Product Manager Internship at Atlas Copco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Yash Malhotra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BEng Manufacturing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24 June 2024 – 24 July 2025</a:t>
            </a:r>
            <a:endParaRPr lang="en-US" sz="1400" dirty="0"/>
          </a:p>
        </p:txBody>
      </p:sp>
      <p:pic>
        <p:nvPicPr>
          <p:cNvPr id="7" name="Image 1" descr="Atlas Copco Wolverhampton Customer Centr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My role at a glance</a:t>
            </a:r>
            <a:endParaRPr lang="en-US" sz="3000" dirty="0"/>
          </a:p>
        </p:txBody>
      </p:sp>
      <p:sp>
        <p:nvSpPr>
          <p:cNvPr id="3" name="Role summary"/>
          <p:cNvSpPr txBox="1"/>
          <p:nvPr/>
        </p:nvSpPr>
        <p:spPr>
          <a:xfrm>
            <a:off x="548640" y="13258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WHERE
</a:t>
            </a:r>
            <a:r>
              <a:rPr lang="en-US" sz="1400" dirty="0">
                <a:solidFill>
                  <a:schemeClr val="tx1"/>
                </a:solidFill>
              </a:rPr>
              <a:t>Atlas Copco Tools &amp; Industrial Assembly Solutions (ACTIAS), Wolverhampton Customer Centre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
</a:t>
            </a:r>
            <a:r>
              <a:rPr lang="en-US" sz="1400" dirty="0">
                <a:solidFill>
                  <a:schemeClr val="tx1"/>
                </a:solidFill>
              </a:rPr>
              <a:t>Product Manager Intern, taking direction from several managers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PRODUCTS
</a:t>
            </a:r>
            <a:r>
              <a:rPr lang="en-US" sz="1400" dirty="0">
                <a:solidFill>
                  <a:schemeClr val="tx1"/>
                </a:solidFill>
              </a:rPr>
              <a:t>ALTURE: a data-driven service that optimises maintenance. TechCover: a software support contract.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starting objectives</a:t>
            </a:r>
            <a:endParaRPr lang="en-US" sz="1600" dirty="0"/>
          </a:p>
        </p:txBody>
      </p:sp>
      <p:sp>
        <p:nvSpPr>
          <p:cNvPr id="5" name="Objective card 1"/>
          <p:cNvSpPr/>
          <p:nvPr/>
        </p:nvSpPr>
        <p:spPr>
          <a:xfrm>
            <a:off x="4937760" y="1783080"/>
            <a:ext cx="3657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umber 1"/>
          <p:cNvSpPr/>
          <p:nvPr/>
        </p:nvSpPr>
        <p:spPr>
          <a:xfrm>
            <a:off x="5074920" y="20025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7492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8745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clear DDS sales process with case studies and a technical feature pack</a:t>
            </a:r>
            <a:endParaRPr lang="en-US" sz="1400" dirty="0"/>
          </a:p>
        </p:txBody>
      </p:sp>
      <p:sp>
        <p:nvSpPr>
          <p:cNvPr id="9" name="Objective card 2"/>
          <p:cNvSpPr/>
          <p:nvPr/>
        </p:nvSpPr>
        <p:spPr>
          <a:xfrm>
            <a:off x="4937760" y="2807208"/>
            <a:ext cx="3657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ber 2"/>
          <p:cNvSpPr/>
          <p:nvPr/>
        </p:nvSpPr>
        <p:spPr>
          <a:xfrm>
            <a:off x="5074920" y="30266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749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89864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Raise ALTURE visibility through social media and marketing</a:t>
            </a:r>
            <a:endParaRPr lang="en-US" sz="1400" dirty="0"/>
          </a:p>
        </p:txBody>
      </p:sp>
      <p:sp>
        <p:nvSpPr>
          <p:cNvPr id="13" name="Objective card 3"/>
          <p:cNvSpPr/>
          <p:nvPr/>
        </p:nvSpPr>
        <p:spPr>
          <a:xfrm>
            <a:off x="4937760" y="3831336"/>
            <a:ext cx="36576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ber 3"/>
          <p:cNvSpPr/>
          <p:nvPr/>
        </p:nvSpPr>
        <p:spPr>
          <a:xfrm>
            <a:off x="5074920" y="4050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92277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 market-leading customer demos using every tool available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Making ALTURE easier to sell</a:t>
            </a:r>
            <a:endParaRPr lang="en-US" sz="3000" dirty="0"/>
          </a:p>
        </p:txBody>
      </p:sp>
      <p:sp>
        <p:nvSpPr>
          <p:cNvPr id="3" name="Column 1"/>
          <p:cNvSpPr/>
          <p:nvPr/>
        </p:nvSpPr>
        <p:spPr>
          <a:xfrm>
            <a:off x="548640" y="132588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 found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Customers worried about ALTURE’s IT security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team unclear on what it offered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UK buyers needed face-to-face contact, not just LinkedIn</a:t>
            </a:r>
            <a:endParaRPr lang="en-US" sz="1400" dirty="0"/>
          </a:p>
        </p:txBody>
      </p:sp>
      <p:sp>
        <p:nvSpPr>
          <p:cNvPr id="6" name="Column 2"/>
          <p:cNvSpPr/>
          <p:nvPr/>
        </p:nvSpPr>
        <p:spPr>
          <a:xfrm>
            <a:off x="3291840" y="132588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 did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Interviewed marketing and the Global Product Manager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Pulled scattered material into one sales presentation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an awareness strategy and presented it at exhibitions</a:t>
            </a:r>
            <a:endParaRPr lang="en-US" sz="1400" dirty="0"/>
          </a:p>
        </p:txBody>
      </p:sp>
      <p:sp>
        <p:nvSpPr>
          <p:cNvPr id="9" name="Result card"/>
          <p:cNvSpPr/>
          <p:nvPr/>
        </p:nvSpPr>
        <p:spPr>
          <a:xfrm>
            <a:off x="6035040" y="132588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What happened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customers connected to ALTURE by Feb 2025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520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 also led the ALTURE review meetings and reported progress to the Service Team.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ALTURE?</a:t>
            </a:r>
            <a:endParaRPr lang="en-US" sz="3000" dirty="0"/>
          </a:p>
        </p:txBody>
      </p:sp>
      <p:sp>
        <p:nvSpPr>
          <p:cNvPr id="3" name="Flow node 1"/>
          <p:cNvSpPr/>
          <p:nvPr/>
        </p:nvSpPr>
        <p:spPr>
          <a:xfrm>
            <a:off x="548640" y="1463040"/>
            <a:ext cx="1737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Tightening tools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848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tightening is recorded</a:t>
            </a:r>
            <a:endParaRPr lang="en-US" sz="1400" dirty="0"/>
          </a:p>
        </p:txBody>
      </p:sp>
      <p:sp>
        <p:nvSpPr>
          <p:cNvPr id="6" name="Flow arrow 1"/>
          <p:cNvSpPr/>
          <p:nvPr/>
        </p:nvSpPr>
        <p:spPr>
          <a:xfrm>
            <a:off x="2331720" y="2103120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 node 2"/>
          <p:cNvSpPr/>
          <p:nvPr/>
        </p:nvSpPr>
        <p:spPr>
          <a:xfrm>
            <a:off x="2651760" y="1463040"/>
            <a:ext cx="173736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8892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ALTURE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0848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Data-driven maintenance service</a:t>
            </a:r>
            <a:endParaRPr lang="en-US" sz="1400" dirty="0"/>
          </a:p>
        </p:txBody>
      </p:sp>
      <p:sp>
        <p:nvSpPr>
          <p:cNvPr id="10" name="Flow arrow 2"/>
          <p:cNvSpPr/>
          <p:nvPr/>
        </p:nvSpPr>
        <p:spPr>
          <a:xfrm>
            <a:off x="4434840" y="2103120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Flow node 3"/>
          <p:cNvSpPr/>
          <p:nvPr/>
        </p:nvSpPr>
        <p:spPr>
          <a:xfrm>
            <a:off x="4754880" y="1463040"/>
            <a:ext cx="1737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Insights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848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Tool health and trends</a:t>
            </a:r>
            <a:endParaRPr lang="en-US" sz="1400" dirty="0"/>
          </a:p>
        </p:txBody>
      </p:sp>
      <p:sp>
        <p:nvSpPr>
          <p:cNvPr id="14" name="Flow arrow 3"/>
          <p:cNvSpPr/>
          <p:nvPr/>
        </p:nvSpPr>
        <p:spPr>
          <a:xfrm>
            <a:off x="6537960" y="2103120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low node 4"/>
          <p:cNvSpPr/>
          <p:nvPr/>
        </p:nvSpPr>
        <p:spPr>
          <a:xfrm>
            <a:off x="6858000" y="1463040"/>
            <a:ext cx="1737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9516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08483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Fix it before it fails</a:t>
            </a:r>
            <a:endParaRPr lang="en-US" sz="1400" dirty="0"/>
          </a:p>
        </p:txBody>
      </p:sp>
      <p:sp>
        <p:nvSpPr>
          <p:cNvPr id="18" name="Benefit 1"/>
          <p:cNvSpPr/>
          <p:nvPr/>
        </p:nvSpPr>
        <p:spPr>
          <a:xfrm>
            <a:off x="548640" y="338328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Less downtime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Maintenance when needed, not by calendar</a:t>
            </a:r>
            <a:endParaRPr lang="en-US" sz="1400" dirty="0"/>
          </a:p>
        </p:txBody>
      </p:sp>
      <p:sp>
        <p:nvSpPr>
          <p:cNvPr id="21" name="Benefit 2"/>
          <p:cNvSpPr/>
          <p:nvPr/>
        </p:nvSpPr>
        <p:spPr>
          <a:xfrm>
            <a:off x="3291840" y="338328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4747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Full traceability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Results tied to every joint</a:t>
            </a:r>
            <a:endParaRPr lang="en-US" sz="1400" dirty="0"/>
          </a:p>
        </p:txBody>
      </p:sp>
      <p:sp>
        <p:nvSpPr>
          <p:cNvPr id="24" name="Benefit 3"/>
          <p:cNvSpPr/>
          <p:nvPr/>
        </p:nvSpPr>
        <p:spPr>
          <a:xfrm>
            <a:off x="6035040" y="338328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2179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Security-ready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security documentation included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6EC54-953B-053C-38A8-0FB8C0CF5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5077"/>
            <a:ext cx="6289707" cy="354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45BE47-D01F-3F60-BF71-EDDC257921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7" b="84579"/>
          <a:stretch>
            <a:fillRect/>
          </a:stretch>
        </p:blipFill>
        <p:spPr bwMode="auto">
          <a:xfrm>
            <a:off x="1746030" y="747277"/>
            <a:ext cx="5859463" cy="627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09C5A7-B695-2FBB-7CB6-3469398A3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762" y="3949545"/>
            <a:ext cx="4282658" cy="95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A83078-87E5-EE59-73E7-6157C48B75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7" y="1375077"/>
            <a:ext cx="3993316" cy="239334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9CFC3CF2-D433-F4F3-EA29-CA068283B40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15757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ALTURE?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40119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ALTURE in action: aerospace example</a:t>
            </a:r>
            <a:endParaRPr lang="en-US" sz="3000" dirty="0"/>
          </a:p>
        </p:txBody>
      </p:sp>
      <p:sp>
        <p:nvSpPr>
          <p:cNvPr id="3" name="Category A badge"/>
          <p:cNvSpPr/>
          <p:nvPr/>
        </p:nvSpPr>
        <p:spPr>
          <a:xfrm>
            <a:off x="1280160" y="1261872"/>
            <a:ext cx="219456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280160" y="1261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CATEGORY A: HIGH RISK</a:t>
            </a:r>
            <a:endParaRPr lang="en-US" sz="1200" dirty="0"/>
          </a:p>
        </p:txBody>
      </p:sp>
      <p:sp>
        <p:nvSpPr>
          <p:cNvPr id="5" name="Flange ring"/>
          <p:cNvSpPr/>
          <p:nvPr/>
        </p:nvSpPr>
        <p:spPr>
          <a:xfrm>
            <a:off x="914400" y="1600200"/>
            <a:ext cx="2926080" cy="292608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ange bore"/>
          <p:cNvSpPr/>
          <p:nvPr/>
        </p:nvSpPr>
        <p:spPr>
          <a:xfrm>
            <a:off x="1645920" y="2331720"/>
            <a:ext cx="1463040" cy="14630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3736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Engine casing flange</a:t>
            </a:r>
            <a:endParaRPr lang="en-US" sz="1200" dirty="0"/>
          </a:p>
        </p:txBody>
      </p:sp>
      <p:sp>
        <p:nvSpPr>
          <p:cNvPr id="8" name="Bolt 1"/>
          <p:cNvSpPr/>
          <p:nvPr/>
        </p:nvSpPr>
        <p:spPr>
          <a:xfrm>
            <a:off x="2240280" y="182880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lt 2"/>
          <p:cNvSpPr/>
          <p:nvPr/>
        </p:nvSpPr>
        <p:spPr>
          <a:xfrm>
            <a:off x="2788920" y="197580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lt 3"/>
          <p:cNvSpPr/>
          <p:nvPr/>
        </p:nvSpPr>
        <p:spPr>
          <a:xfrm>
            <a:off x="3190552" y="23774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lt 4"/>
          <p:cNvSpPr/>
          <p:nvPr/>
        </p:nvSpPr>
        <p:spPr>
          <a:xfrm>
            <a:off x="3337560" y="29260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lt 5"/>
          <p:cNvSpPr/>
          <p:nvPr/>
        </p:nvSpPr>
        <p:spPr>
          <a:xfrm>
            <a:off x="3190552" y="3474720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lt 6"/>
          <p:cNvSpPr/>
          <p:nvPr/>
        </p:nvSpPr>
        <p:spPr>
          <a:xfrm>
            <a:off x="2788920" y="3876352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lt 7"/>
          <p:cNvSpPr/>
          <p:nvPr/>
        </p:nvSpPr>
        <p:spPr>
          <a:xfrm>
            <a:off x="2240280" y="40233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lt 8"/>
          <p:cNvSpPr/>
          <p:nvPr/>
        </p:nvSpPr>
        <p:spPr>
          <a:xfrm>
            <a:off x="1691640" y="3876352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lt 9"/>
          <p:cNvSpPr/>
          <p:nvPr/>
        </p:nvSpPr>
        <p:spPr>
          <a:xfrm>
            <a:off x="1290008" y="347472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lt 10"/>
          <p:cNvSpPr/>
          <p:nvPr/>
        </p:nvSpPr>
        <p:spPr>
          <a:xfrm>
            <a:off x="1143000" y="29260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lt 11"/>
          <p:cNvSpPr/>
          <p:nvPr/>
        </p:nvSpPr>
        <p:spPr>
          <a:xfrm>
            <a:off x="1290008" y="23774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lt 12"/>
          <p:cNvSpPr/>
          <p:nvPr/>
        </p:nvSpPr>
        <p:spPr>
          <a:xfrm>
            <a:off x="1691640" y="197580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card 1"/>
          <p:cNvSpPr/>
          <p:nvPr/>
        </p:nvSpPr>
        <p:spPr>
          <a:xfrm>
            <a:off x="4572000" y="128016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 number 1"/>
          <p:cNvSpPr/>
          <p:nvPr/>
        </p:nvSpPr>
        <p:spPr>
          <a:xfrm>
            <a:off x="470916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091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tool drifts out of tolerance</a:t>
            </a:r>
            <a:endParaRPr lang="en-US" sz="1500" dirty="0"/>
          </a:p>
        </p:txBody>
      </p:sp>
      <p:sp>
        <p:nvSpPr>
          <p:cNvPr id="24" name="Step card 2"/>
          <p:cNvSpPr/>
          <p:nvPr/>
        </p:nvSpPr>
        <p:spPr>
          <a:xfrm>
            <a:off x="4572000" y="201168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number 2"/>
          <p:cNvSpPr/>
          <p:nvPr/>
        </p:nvSpPr>
        <p:spPr>
          <a:xfrm>
            <a:off x="470916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709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ALTURE flags the trend early</a:t>
            </a:r>
            <a:endParaRPr lang="en-US" sz="1500" dirty="0"/>
          </a:p>
        </p:txBody>
      </p:sp>
      <p:sp>
        <p:nvSpPr>
          <p:cNvPr id="28" name="Step card 3"/>
          <p:cNvSpPr/>
          <p:nvPr/>
        </p:nvSpPr>
        <p:spPr>
          <a:xfrm>
            <a:off x="4572000" y="274320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ep number 3"/>
          <p:cNvSpPr/>
          <p:nvPr/>
        </p:nvSpPr>
        <p:spPr>
          <a:xfrm>
            <a:off x="470916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091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Serviced before rejects hit the build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VDI/VDE 2862 risk categories (A = danger to life and limb)</a:t>
            </a:r>
            <a:endParaRPr lang="en-US" sz="1100" dirty="0"/>
          </a:p>
        </p:txBody>
      </p:sp>
      <p:sp>
        <p:nvSpPr>
          <p:cNvPr id="33" name="Category tile A"/>
          <p:cNvSpPr/>
          <p:nvPr/>
        </p:nvSpPr>
        <p:spPr>
          <a:xfrm>
            <a:off x="4572000" y="3840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572000" y="3840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
</a:t>
            </a:r>
            <a:r>
              <a:rPr lang="en-US" sz="1400" dirty="0">
                <a:solidFill>
                  <a:schemeClr val="tx1"/>
                </a:solidFill>
              </a:rPr>
              <a:t>High risk</a:t>
            </a:r>
            <a:endParaRPr lang="en-US" sz="1800" dirty="0"/>
          </a:p>
        </p:txBody>
      </p:sp>
      <p:sp>
        <p:nvSpPr>
          <p:cNvPr id="35" name="Category tile B"/>
          <p:cNvSpPr/>
          <p:nvPr/>
        </p:nvSpPr>
        <p:spPr>
          <a:xfrm>
            <a:off x="5943600" y="3840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943600" y="3840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
</a:t>
            </a:r>
            <a:r>
              <a:rPr lang="en-US" sz="1400" dirty="0">
                <a:solidFill>
                  <a:schemeClr val="tx1"/>
                </a:solidFill>
              </a:rPr>
              <a:t>Medium risk</a:t>
            </a:r>
            <a:endParaRPr lang="en-US" sz="1800" dirty="0"/>
          </a:p>
        </p:txBody>
      </p:sp>
      <p:sp>
        <p:nvSpPr>
          <p:cNvPr id="37" name="Category tile C"/>
          <p:cNvSpPr/>
          <p:nvPr/>
        </p:nvSpPr>
        <p:spPr>
          <a:xfrm>
            <a:off x="7315200" y="3840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315200" y="3840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
</a:t>
            </a:r>
            <a:r>
              <a:rPr lang="en-US" sz="1400" dirty="0">
                <a:solidFill>
                  <a:schemeClr val="tx1"/>
                </a:solidFill>
              </a:rPr>
              <a:t>Low risk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6817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Illustrative example, not a Rolls-Royce process. The real category would follow the customer’s own standards.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Presenting and representing the business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Sep 2024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280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Led my first ILS demo at a Milton Keynes exhibition, learning only from watching live demos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751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Oct 2024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9751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Condensed a 4-hour ecosystem demo into 30 minutes for a new distributor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00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30–31 Oct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70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Presented ALTURE at Advanced Engineering (NEC) and helped win Best Stand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6499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29 Nov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364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Gave a 5-minute ALTURE pitch at the York company event and drove the demo kit there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5993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18 Mar 2025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0599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 the ILS demo at University College Birmingham’s VIP event</a:t>
            </a:r>
            <a:endParaRPr lang="en-US" sz="1400" dirty="0"/>
          </a:p>
        </p:txBody>
      </p:sp>
      <p:pic>
        <p:nvPicPr>
          <p:cNvPr id="13" name="Image 0" descr="Atlas Copco SMART Factory 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108960" cy="20391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The SMART Factory ecosystem I demonstrated</a:t>
            </a:r>
            <a:endParaRPr lang="en-US" sz="1100" dirty="0"/>
          </a:p>
        </p:txBody>
      </p:sp>
      <p:sp>
        <p:nvSpPr>
          <p:cNvPr id="15" name="Award callout"/>
          <p:cNvSpPr/>
          <p:nvPr/>
        </p:nvSpPr>
        <p:spPr>
          <a:xfrm>
            <a:off x="5486400" y="384048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23560" y="3840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Stand of the Year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Advanced Engineering Exhibition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things didn’t go to plan</a:t>
            </a:r>
            <a:endParaRPr lang="en-US" sz="3000" dirty="0"/>
          </a:p>
        </p:txBody>
      </p:sp>
      <p:sp>
        <p:nvSpPr>
          <p:cNvPr id="3" name="Case 1"/>
          <p:cNvSpPr/>
          <p:nvPr/>
        </p:nvSpPr>
        <p:spPr>
          <a:xfrm>
            <a:off x="548640" y="1280160"/>
            <a:ext cx="384048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McLaren: a partner not seeing value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CHALLENGE
</a:t>
            </a:r>
            <a:r>
              <a:rPr lang="en-US" sz="1400" dirty="0">
                <a:solidFill>
                  <a:schemeClr val="tx1"/>
                </a:solidFill>
              </a:rPr>
              <a:t>They expected ALTURE to do things it wasn’t designed for.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WHAT I DID
</a:t>
            </a:r>
            <a:r>
              <a:rPr lang="en-US" sz="1400" dirty="0">
                <a:solidFill>
                  <a:schemeClr val="tx1"/>
                </a:solidFill>
              </a:rPr>
              <a:t>Visited on site, brought in global support and found a recent tightening example for their KPI review.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TAKEAWAY
</a:t>
            </a:r>
            <a:r>
              <a:rPr lang="en-US" sz="1400" dirty="0">
                <a:solidFill>
                  <a:schemeClr val="tx1"/>
                </a:solidFill>
              </a:rPr>
              <a:t>We’d focused on getting customers connected, not on life after connection.</a:t>
            </a:r>
            <a:endParaRPr lang="en-US" sz="1100" dirty="0"/>
          </a:p>
        </p:txBody>
      </p:sp>
      <p:sp>
        <p:nvSpPr>
          <p:cNvPr id="6" name="Case 2"/>
          <p:cNvSpPr/>
          <p:nvPr/>
        </p:nvSpPr>
        <p:spPr>
          <a:xfrm>
            <a:off x="4754880" y="1280160"/>
            <a:ext cx="384048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UCB: a recurring fault before a VIP event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CHALLENGE
</a:t>
            </a:r>
            <a:r>
              <a:rPr lang="en-US" sz="1400" dirty="0">
                <a:solidFill>
                  <a:schemeClr val="tx1"/>
                </a:solidFill>
              </a:rPr>
              <a:t>A persistent fault during our SMART Factory install.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WHAT I DID
</a:t>
            </a:r>
            <a:r>
              <a:rPr lang="en-US" sz="1400" dirty="0">
                <a:solidFill>
                  <a:schemeClr val="tx1"/>
                </a:solidFill>
              </a:rPr>
              <a:t>Researched with global managers, applied a temporary fix, then traced it to the server/ethernet.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TAKEAWAY
</a:t>
            </a:r>
            <a:r>
              <a:rPr lang="en-US" sz="1400" dirty="0">
                <a:solidFill>
                  <a:schemeClr val="tx1"/>
                </a:solidFill>
              </a:rPr>
              <a:t>The fix held on the day; I learned to troubleshoot under pressure.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Taking on TechCover</a:t>
            </a:r>
            <a:endParaRPr lang="en-US" sz="3000" dirty="0"/>
          </a:p>
        </p:txBody>
      </p:sp>
      <p:sp>
        <p:nvSpPr>
          <p:cNvPr id="3" name="Step connector"/>
          <p:cNvSpPr/>
          <p:nvPr/>
        </p:nvSpPr>
        <p:spPr>
          <a:xfrm>
            <a:off x="1325880" y="1673352"/>
            <a:ext cx="63093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 1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31 Jan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Joined the team and researched how TechCover works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2724912" y="1417320"/>
            <a:ext cx="502920" cy="502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72491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14 Feb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Presented my research and gathered team feedback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4352544" y="1417320"/>
            <a:ext cx="502920" cy="502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5254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Apr–May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9624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Analysed customer data for those repeatedly helped without a contract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5980176" y="1417320"/>
            <a:ext cx="502920" cy="502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8017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12 Jun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77256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Helped brief Service Sales on TechCover</a:t>
            </a:r>
            <a:endParaRPr lang="en-US" sz="1400" dirty="0"/>
          </a:p>
        </p:txBody>
      </p:sp>
      <p:sp>
        <p:nvSpPr>
          <p:cNvPr id="20" name="Step 5"/>
          <p:cNvSpPr/>
          <p:nvPr/>
        </p:nvSpPr>
        <p:spPr>
          <a:xfrm>
            <a:off x="7607808" y="1417320"/>
            <a:ext cx="502920" cy="502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0780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Jul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Simplified the support flowchart and new ways to log enquiries</a:t>
            </a:r>
            <a:endParaRPr lang="en-US" sz="1400" dirty="0"/>
          </a:p>
        </p:txBody>
      </p:sp>
      <p:sp>
        <p:nvSpPr>
          <p:cNvPr id="24" name="Playbook band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9319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playbook as ALTURE: use customer data to pick targets, then educate the sales team.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I bring to my next role</a:t>
            </a:r>
            <a:endParaRPr lang="en-US" sz="3000" dirty="0"/>
          </a:p>
        </p:txBody>
      </p:sp>
      <p:sp>
        <p:nvSpPr>
          <p:cNvPr id="3" name="Skill card 1"/>
          <p:cNvSpPr/>
          <p:nvPr/>
        </p:nvSpPr>
        <p:spPr>
          <a:xfrm>
            <a:off x="548640" y="137160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Presentation skills noticeably stronger by my six-month review, from nervous to leading demos.</a:t>
            </a:r>
            <a:endParaRPr lang="en-US" sz="1400" dirty="0"/>
          </a:p>
        </p:txBody>
      </p:sp>
      <p:sp>
        <p:nvSpPr>
          <p:cNvPr id="6" name="Skill card 2"/>
          <p:cNvSpPr/>
          <p:nvPr/>
        </p:nvSpPr>
        <p:spPr>
          <a:xfrm>
            <a:off x="4754880" y="137160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Initiative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Reached out across teams, led review meetings and took on TechCover alongside ALTURE.</a:t>
            </a:r>
            <a:endParaRPr lang="en-US" sz="1400" dirty="0"/>
          </a:p>
        </p:txBody>
      </p:sp>
      <p:sp>
        <p:nvSpPr>
          <p:cNvPr id="9" name="Skill card 3"/>
          <p:cNvSpPr/>
          <p:nvPr/>
        </p:nvSpPr>
        <p:spPr>
          <a:xfrm>
            <a:off x="548640" y="306324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Adaptability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9359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Handled live software faults, late van deliveries and shifting priorities.</a:t>
            </a:r>
            <a:endParaRPr lang="en-US" sz="1400" dirty="0"/>
          </a:p>
        </p:txBody>
      </p:sp>
      <p:sp>
        <p:nvSpPr>
          <p:cNvPr id="12" name="Skill card 4"/>
          <p:cNvSpPr/>
          <p:nvPr/>
        </p:nvSpPr>
        <p:spPr>
          <a:xfrm>
            <a:off x="4754880" y="3063240"/>
            <a:ext cx="384048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377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Proactive follow-up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9359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Learned to ask for support early and chase colleagues until tasks move.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 Placement">
  <a:themeElements>
    <a:clrScheme name="Atlas Placement">
      <a:dk1>
        <a:srgbClr val="0B2A40"/>
      </a:dk1>
      <a:lt1>
        <a:srgbClr val="FFFFFF"/>
      </a:lt1>
      <a:dk2>
        <a:srgbClr val="0F4C6B"/>
      </a:dk2>
      <a:lt2>
        <a:srgbClr val="EAF4F9"/>
      </a:lt2>
      <a:accent1>
        <a:srgbClr val="0090BF"/>
      </a:accent1>
      <a:accent2>
        <a:srgbClr val="F2A900"/>
      </a:accent2>
      <a:accent3>
        <a:srgbClr val="7CC6E3"/>
      </a:accent3>
      <a:accent4>
        <a:srgbClr val="5B7385"/>
      </a:accent4>
      <a:accent5>
        <a:srgbClr val="2E8B8B"/>
      </a:accent5>
      <a:accent6>
        <a:srgbClr val="C8D9E3"/>
      </a:accent6>
      <a:hlink>
        <a:srgbClr val="0090BF"/>
      </a:hlink>
      <a:folHlink>
        <a:srgbClr val="5B7385"/>
      </a:folHlink>
    </a:clrScheme>
    <a:fontScheme name="Atlas Plac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697</Words>
  <Application>Microsoft Macintosh PowerPoint</Application>
  <PresentationFormat>On-screen Show (16:9)</PresentationFormat>
  <Paragraphs>123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Atlas Placement</vt:lpstr>
      <vt:lpstr>Product Manager Internship at Atlas Copco</vt:lpstr>
      <vt:lpstr>My role at a glance</vt:lpstr>
      <vt:lpstr>Making ALTURE easier to sell</vt:lpstr>
      <vt:lpstr>What is ALTURE?</vt:lpstr>
      <vt:lpstr>What is ALTURE?</vt:lpstr>
      <vt:lpstr>ALTURE in action: aerospace example</vt:lpstr>
      <vt:lpstr>Presenting and representing the business</vt:lpstr>
      <vt:lpstr>When things didn’t go to plan</vt:lpstr>
      <vt:lpstr>Taking on TechCover</vt:lpstr>
      <vt:lpstr>What I bring to my next role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Manager Internship at Atlas Copco</dc:title>
  <dc:subject>PptxGenJS Presentation</dc:subject>
  <dc:creator>Yash Malhotra</dc:creator>
  <cp:lastModifiedBy>Yash Malhotra</cp:lastModifiedBy>
  <cp:revision>2</cp:revision>
  <dcterms:created xsi:type="dcterms:W3CDTF">2026-10-21T13:55:40Z</dcterms:created>
  <dcterms:modified xsi:type="dcterms:W3CDTF">2026-10-24T18:34:09Z</dcterms:modified>
</cp:coreProperties>
</file>